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13716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598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Georgia"/>
              </a:defRPr>
            </a:pPr>
            <a:r>
              <a:t>美股市场深度分析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601200" cy="10972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CADCFC"/>
                </a:solidFill>
                <a:latin typeface="Calibri"/>
              </a:defRPr>
            </a:pPr>
            <a:r>
              <a:t>地缘冲突 · 通胀升温 · 联储转向 · AI贸易审判日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6012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2026年5月19日  |  投资分析报告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49240"/>
            <a:ext cx="9601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99A8BB"/>
                </a:solidFill>
                <a:latin typeface="Calibri"/>
              </a:defRPr>
            </a:pPr>
            <a:r>
              <a:t>数据来源：Bloomberg, MarketWatch, Federal Reserve, CNBC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本报告议题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645920" cy="317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27632"/>
            <a:ext cx="9144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A1A2E"/>
                </a:solidFill>
                <a:latin typeface="Georgia"/>
              </a:defRPr>
            </a:pPr>
            <a:r>
              <a:t>三大指数与市场总览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29968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4A5A6B"/>
                </a:solidFill>
                <a:latin typeface="Calibri"/>
              </a:defRPr>
            </a:pPr>
            <a:r>
              <a:t>Dow · S&amp;P 500 · Nasdaq 关键位与近期走势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359152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04872"/>
            <a:ext cx="9144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A1A2E"/>
                </a:solidFill>
                <a:latin typeface="Georgia"/>
              </a:defRPr>
            </a:pPr>
            <a:r>
              <a:t>三大核心驱动力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07208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4A5A6B"/>
                </a:solidFill>
                <a:latin typeface="Calibri"/>
              </a:defRPr>
            </a:pPr>
            <a:r>
              <a:t>伊朗冲突与油价 · 通胀与联储 · AI科技股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136391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82112"/>
            <a:ext cx="9144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A1A2E"/>
                </a:solidFill>
                <a:latin typeface="Georgia"/>
              </a:defRPr>
            </a:pPr>
            <a:r>
              <a:t>板块深度分析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84448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4A5A6B"/>
                </a:solidFill>
                <a:latin typeface="Calibri"/>
              </a:defRPr>
            </a:pPr>
            <a:r>
              <a:t>科技 · 能源 · 金融 三大板块分化格局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913632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977639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59352"/>
            <a:ext cx="9144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A1A2E"/>
                </a:solidFill>
                <a:latin typeface="Georgia"/>
              </a:defRPr>
            </a:pPr>
            <a:r>
              <a:t>债市信号与利率预期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61688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4A5A6B"/>
                </a:solidFill>
                <a:latin typeface="Calibri"/>
              </a:defRPr>
            </a:pPr>
            <a:r>
              <a:t>收益率飙升 · 加息概率 · 曲线形态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690872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75488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36592"/>
            <a:ext cx="9144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A1A2E"/>
                </a:solidFill>
                <a:latin typeface="Georgia"/>
              </a:defRPr>
            </a:pPr>
            <a:r>
              <a:t>NVIDIA：AI贸易审判日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38928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4A5A6B"/>
                </a:solidFill>
                <a:latin typeface="Calibri"/>
              </a:defRPr>
            </a:pPr>
            <a:r>
              <a:t>Mag 7 分化 · 数据中心军备竞赛 · 527B投资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468112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321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513832"/>
            <a:ext cx="9144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1A1A2E"/>
                </a:solidFill>
                <a:latin typeface="Georgia"/>
              </a:defRPr>
            </a:pPr>
            <a:r>
              <a:t>风险矩阵与投资策略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916168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4A5A6B"/>
                </a:solidFill>
                <a:latin typeface="Calibri"/>
              </a:defRPr>
            </a:pPr>
            <a:r>
              <a:t>集中度风险 · 情景分析 · 配置建议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三大指数概览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4A5A6B"/>
                </a:solidFill>
                <a:latin typeface="Calibri"/>
              </a:defRPr>
            </a:pPr>
            <a:r>
              <a:t>2026年5月18日收盘  |  连续第二日下跌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5" name="Rectangle 4"/>
          <p:cNvSpPr/>
          <p:nvPr/>
        </p:nvSpPr>
        <p:spPr>
          <a:xfrm>
            <a:off x="731520" y="1645920"/>
            <a:ext cx="3291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  <a:defRPr sz="4000" b="1">
                <a:solidFill>
                  <a:srgbClr val="2EAD6F"/>
                </a:solidFill>
                <a:latin typeface="Georgia"/>
              </a:defRPr>
            </a:pPr>
            <a:r>
              <a:t>49,686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283464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道琼斯工业指数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283464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+0.32%  ·  唯一上涨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9" name="Rectangle 8"/>
          <p:cNvSpPr/>
          <p:nvPr/>
        </p:nvSpPr>
        <p:spPr>
          <a:xfrm>
            <a:off x="4389120" y="1645920"/>
            <a:ext cx="3291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83464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  <a:defRPr sz="4000" b="1">
                <a:solidFill>
                  <a:srgbClr val="E84D4D"/>
                </a:solidFill>
                <a:latin typeface="Georgia"/>
              </a:defRPr>
            </a:pPr>
            <a:r>
              <a:t>7,403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43200"/>
            <a:ext cx="283464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标普500指数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08960"/>
            <a:ext cx="283464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−0.07%  ·  连续第二日下跌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3" name="Rectangle 12"/>
          <p:cNvSpPr/>
          <p:nvPr/>
        </p:nvSpPr>
        <p:spPr>
          <a:xfrm>
            <a:off x="8046720" y="1645920"/>
            <a:ext cx="3291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283464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  <a:defRPr sz="4000" b="1">
                <a:solidFill>
                  <a:srgbClr val="E84D4D"/>
                </a:solidFill>
                <a:latin typeface="Georgia"/>
              </a:defRPr>
            </a:pPr>
            <a:r>
              <a:t>26,091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43200"/>
            <a:ext cx="283464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纳斯达克综合指数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08960"/>
            <a:ext cx="283464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−0.51%  ·  半导体领跌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关键支撑与阻力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5029200" cy="20116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1">
                <a:solidFill>
                  <a:srgbClr val="1A1A2E"/>
                </a:solidFill>
                <a:latin typeface="Calibri"/>
              </a:rPr>
              <a:t>S&amp;P 500</a:t>
            </a:r>
            <a:r>
              <a:rPr sz="1200" b="0">
                <a:solidFill>
                  <a:srgbClr val="4A5A6B"/>
                </a:solidFill>
                <a:latin typeface="Calibri"/>
              </a:rPr>
              <a:t>  支撑 7,250 / 阻力 7,500–7,750</a:t>
            </a:r>
          </a:p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1">
                <a:solidFill>
                  <a:srgbClr val="1A1A2E"/>
                </a:solidFill>
                <a:latin typeface="Calibri"/>
              </a:rPr>
              <a:t>Nasdaq</a:t>
            </a:r>
            <a:r>
              <a:rPr sz="1200" b="0">
                <a:solidFill>
                  <a:srgbClr val="4A5A6B"/>
                </a:solidFill>
                <a:latin typeface="Calibri"/>
              </a:rPr>
              <a:t>  关键位 26,000，失守则看 25,300</a:t>
            </a:r>
          </a:p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1">
                <a:solidFill>
                  <a:srgbClr val="1A1A2E"/>
                </a:solidFill>
                <a:latin typeface="Calibri"/>
              </a:rPr>
              <a:t>Dow</a:t>
            </a:r>
            <a:r>
              <a:rPr sz="1200" b="0">
                <a:solidFill>
                  <a:srgbClr val="4A5A6B"/>
                </a:solidFill>
                <a:latin typeface="Calibri"/>
              </a:rPr>
              <a:t>  区间 48,700–50,200，突破上看 51,300</a:t>
            </a:r>
          </a:p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1">
                <a:solidFill>
                  <a:srgbClr val="1A1A2E"/>
                </a:solidFill>
                <a:latin typeface="Calibri"/>
              </a:rPr>
              <a:t>VIX 恐慌指数</a:t>
            </a:r>
            <a:r>
              <a:rPr sz="1200" b="0">
                <a:solidFill>
                  <a:srgbClr val="4A5A6B"/>
                </a:solidFill>
                <a:latin typeface="Calibri"/>
              </a:rPr>
              <a:t>  17.81（−3.36%），仍处中等水平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市场概况</a:t>
            </a:r>
          </a:p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>
                <a:solidFill>
                  <a:srgbClr val="4A5A6B"/>
                </a:solidFill>
                <a:latin typeface="Calibri"/>
              </a:rPr>
              <a:t>S&amp;P 500今年已录12次历史新高，但5月中旬开始出现回调。标普指数自3月底部反弹18.4%，但等权重版仅涨8.3%——市场广度极度收窄。</a:t>
            </a:r>
          </a:p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1">
                <a:solidFill>
                  <a:srgbClr val="E84D4D"/>
                </a:solidFill>
                <a:latin typeface="Calibri"/>
              </a:rPr>
              <a:t>科技股获利了结</a:t>
            </a:r>
            <a:r>
              <a:rPr sz="1200" b="0">
                <a:solidFill>
                  <a:srgbClr val="4A5A6B"/>
                </a:solidFill>
                <a:latin typeface="Calibri"/>
              </a:rPr>
              <a:t>  +  </a:t>
            </a:r>
            <a:r>
              <a:rPr sz="1200" b="1">
                <a:solidFill>
                  <a:srgbClr val="E84D4D"/>
                </a:solidFill>
                <a:latin typeface="Calibri"/>
              </a:rPr>
              <a:t>伊朗停火预期摇摆</a:t>
            </a:r>
          </a:p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>
                <a:solidFill>
                  <a:srgbClr val="4A5A6B"/>
                </a:solidFill>
                <a:latin typeface="Calibri"/>
              </a:rPr>
              <a:t>共同压制成市场情绪。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核心驱动力一：地缘政治与能源危机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4A5A6B"/>
                </a:solidFill>
                <a:latin typeface="Calibri"/>
              </a:defRPr>
            </a:pPr>
            <a:r>
              <a:t>美国-伊朗冲突持续，霍尔木兹海峡封锁 → 油价飙升 → 通胀传导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5" name="Rectangle 4"/>
          <p:cNvSpPr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8463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Georgia"/>
              </a:defRPr>
            </a:pPr>
            <a:r>
              <a:t>关键事件时间线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37744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8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11887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2月下旬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31720"/>
            <a:ext cx="30175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美国与以色列联合对伊朗发动军事行动，冲突爆发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01752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8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71800"/>
            <a:ext cx="11887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4月8日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71800"/>
            <a:ext cx="30175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短暂停火（后破裂），伊斯兰堡谈判无果而终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65760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8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11880"/>
            <a:ext cx="11887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4月下旬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11880"/>
            <a:ext cx="30175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霍尔木兹海峡航运几乎中断，布伦特原油触及$140+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97679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8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59"/>
            <a:ext cx="11887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5月中旬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51959"/>
            <a:ext cx="30175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特朗普警告「时间在流逝」，但随后叫停攻击计划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493776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8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92040"/>
            <a:ext cx="11887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5月18日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92040"/>
            <a:ext cx="30175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WTI $108.66/bbl，布伦特 $112.10/bbl，能源板块+1.8%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557784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8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32120"/>
            <a:ext cx="11887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当前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532120"/>
            <a:ext cx="30175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停火谈判进展不明，油价波动剧烈，市场对消息面极度敏感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645920"/>
            <a:ext cx="5029200" cy="4754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920240"/>
            <a:ext cx="43891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能源冲击量化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560320"/>
            <a:ext cx="4389120" cy="38404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99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Georgia"/>
              </a:defRPr>
            </a:pPr>
            <a:r>
              <a:t>+55%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944368"/>
            <a:ext cx="4389120" cy="20116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布伦特原油自冲突前涨幅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36391"/>
            <a:ext cx="4389120" cy="1828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99A8BB"/>
                </a:solidFill>
                <a:latin typeface="Calibri"/>
              </a:defRPr>
            </a:pPr>
            <a:r>
              <a:t>2月底 ≈$70 → 当前 $112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337560"/>
            <a:ext cx="4389120" cy="38404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99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Georgia"/>
              </a:defRPr>
            </a:pPr>
            <a:r>
              <a:t>$4.51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721608"/>
            <a:ext cx="4389120" cy="20116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美国平均汽油价格/加仑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913632"/>
            <a:ext cx="4389120" cy="1828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99A8BB"/>
                </a:solidFill>
                <a:latin typeface="Calibri"/>
              </a:defRPr>
            </a:pPr>
            <a:r>
              <a:t>汽油同比上涨 28%+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114800"/>
            <a:ext cx="4389120" cy="38404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99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Georgia"/>
              </a:defRPr>
            </a:pPr>
            <a:r>
              <a:t>+32.8%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498848"/>
            <a:ext cx="4389120" cy="20116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能源板块(XLE)年内涨幅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690872"/>
            <a:ext cx="4389120" cy="1828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99A8BB"/>
                </a:solidFill>
                <a:latin typeface="Calibri"/>
              </a:defRPr>
            </a:pPr>
            <a:r>
              <a:t>年至今最强板块，受益于高油价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892040"/>
            <a:ext cx="4389120" cy="38404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99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Georgia"/>
              </a:defRPr>
            </a:pPr>
            <a:r>
              <a:t>3.8%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276088"/>
            <a:ext cx="4389120" cy="20116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4月CPI同比增幅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468112"/>
            <a:ext cx="4389120" cy="1828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99A8BB"/>
                </a:solidFill>
                <a:latin typeface="Calibri"/>
              </a:defRPr>
            </a:pPr>
            <a:r>
              <a:t>三年新高，能源是主要推手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669279"/>
            <a:ext cx="4389120" cy="38404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99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Georgia"/>
              </a:defRPr>
            </a:pPr>
            <a:r>
              <a:t>−1.78M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6053327"/>
            <a:ext cx="4389120" cy="20116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IEA预测全球供应缺口(桶/日)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6245351"/>
            <a:ext cx="4389120" cy="1828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99A8BB"/>
                </a:solidFill>
                <a:latin typeface="Calibri"/>
              </a:defRPr>
            </a:pPr>
            <a:r>
              <a:t>全年供不应求，OPEC+维持减产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核心驱动力二：通胀飙升与美联储困境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4A5A6B"/>
                </a:solidFill>
                <a:latin typeface="Calibri"/>
              </a:defRPr>
            </a:pPr>
            <a:r>
              <a:t>联邦基金利率 3.50–3.75%  |  市场从「期待降息」转向「定价加息」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5" name="Rectangle 4"/>
          <p:cNvSpPr/>
          <p:nvPr/>
        </p:nvSpPr>
        <p:spPr>
          <a:xfrm>
            <a:off x="731520" y="164592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8229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  <a:defRPr sz="4000" b="1">
                <a:solidFill>
                  <a:srgbClr val="E84D4D"/>
                </a:solidFill>
                <a:latin typeface="Georgia"/>
              </a:defRPr>
            </a:pPr>
            <a:r>
              <a:t>3.8%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945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4A5A6B"/>
                </a:solidFill>
                <a:latin typeface="Calibri"/>
              </a:defRPr>
            </a:pPr>
            <a:r>
              <a:t>4月CPI</a:t>
            </a:r>
            <a:br/>
            <a:r>
              <a:t>同比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8" name="Rectangle 7"/>
          <p:cNvSpPr/>
          <p:nvPr/>
        </p:nvSpPr>
        <p:spPr>
          <a:xfrm>
            <a:off x="3566160" y="164592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737360"/>
            <a:ext cx="2194560" cy="8229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  <a:defRPr sz="4000" b="1">
                <a:solidFill>
                  <a:srgbClr val="E84D4D"/>
                </a:solidFill>
                <a:latin typeface="Georgia"/>
              </a:defRPr>
            </a:pPr>
            <a:r>
              <a:t>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560320"/>
            <a:ext cx="21945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4A5A6B"/>
                </a:solidFill>
                <a:latin typeface="Calibri"/>
              </a:defRPr>
            </a:pPr>
            <a:r>
              <a:t>4月PPI</a:t>
            </a:r>
            <a:br/>
            <a:r>
              <a:t>同比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1" name="Rectangle 10"/>
          <p:cNvSpPr/>
          <p:nvPr/>
        </p:nvSpPr>
        <p:spPr>
          <a:xfrm>
            <a:off x="6400800" y="164592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2194560" cy="8229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  <a:defRPr sz="4000" b="1">
                <a:solidFill>
                  <a:srgbClr val="E84D4D"/>
                </a:solidFill>
                <a:latin typeface="Georgia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21945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4A5A6B"/>
                </a:solidFill>
                <a:latin typeface="Calibri"/>
              </a:defRPr>
            </a:pPr>
            <a:r>
              <a:t>核心PCE</a:t>
            </a:r>
            <a:br/>
            <a:r>
              <a:t>月环比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4" name="Rectangle 13"/>
          <p:cNvSpPr/>
          <p:nvPr/>
        </p:nvSpPr>
        <p:spPr>
          <a:xfrm>
            <a:off x="9235440" y="164592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737360"/>
            <a:ext cx="2194560" cy="8229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  <a:defRPr sz="4000" b="1">
                <a:solidFill>
                  <a:srgbClr val="D4A843"/>
                </a:solidFill>
                <a:latin typeface="Georgia"/>
              </a:defRPr>
            </a:pPr>
            <a:r>
              <a:t>37%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560320"/>
            <a:ext cx="2194560" cy="5486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4A5A6B"/>
                </a:solidFill>
                <a:latin typeface="Calibri"/>
              </a:defRPr>
            </a:pPr>
            <a:r>
              <a:t>年底加息</a:t>
            </a:r>
            <a:br/>
            <a:r>
              <a:t>概率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7" name="Rectangle 16"/>
          <p:cNvSpPr/>
          <p:nvPr/>
        </p:nvSpPr>
        <p:spPr>
          <a:xfrm>
            <a:off x="731520" y="3657600"/>
            <a:ext cx="53035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94760"/>
            <a:ext cx="48463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Georgia"/>
              </a:defRPr>
            </a:pPr>
            <a:r>
              <a:t>美联储政策动态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484632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4月FOMC以 8-4 投票维持利率不变（1992年以来最多反对票）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17720"/>
            <a:ext cx="484632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3位鹰派地区行长反对声明中的「宽松倾向」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484632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Kevin Warsh 被提名接替 Powell 任新主席（5月11日听证会）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57800"/>
            <a:ext cx="484632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Warsh 被视为偏鸽派 → 政策不确定性上升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484632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BofA 将首次降息预测推迟至 2027下半年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97880"/>
            <a:ext cx="484632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Jeffrey Gundlach：「通胀数据让降息变得不可能」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657600"/>
            <a:ext cx="50292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794760"/>
            <a:ext cx="4389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利率预期剧变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297680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D4A843"/>
                </a:solidFill>
                <a:latin typeface="Georgia"/>
              </a:defRPr>
            </a:pPr>
            <a:r>
              <a:t>30-50%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315968"/>
            <a:ext cx="3108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市场定价年底前至少加息一次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09160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D4A843"/>
                </a:solidFill>
                <a:latin typeface="Georgia"/>
              </a:defRPr>
            </a:pPr>
            <a:r>
              <a:t>~47%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27448"/>
            <a:ext cx="3108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Kalshi预测市场：累计加息概率（至2027年7月）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120640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D4A843"/>
                </a:solidFill>
                <a:latin typeface="Georgia"/>
              </a:defRPr>
            </a:pPr>
            <a:r>
              <a:t>4.55%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138928"/>
            <a:ext cx="3108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10年期美债收益率——一年新高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532120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D4A843"/>
                </a:solidFill>
                <a:latin typeface="Georgia"/>
              </a:defRPr>
            </a:pPr>
            <a:r>
              <a:t>5%+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550408"/>
            <a:ext cx="3108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30年期美债收益率——二十年高位附近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943600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D4A843"/>
                </a:solidFill>
                <a:latin typeface="Georgia"/>
              </a:defRPr>
            </a:pPr>
            <a:r>
              <a:t>3.88%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961888"/>
            <a:ext cx="3108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CADCFC"/>
                </a:solidFill>
                <a:latin typeface="Calibri"/>
              </a:defRPr>
            </a:pPr>
            <a:r>
              <a:t>2年期收益率——已高于联邦基金利率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核心驱动力三：AI科技股与Mag 7分化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4A5A6B"/>
                </a:solidFill>
                <a:latin typeface="Calibri"/>
              </a:defRPr>
            </a:pPr>
            <a:r>
              <a:t>AI贸易从「买入一切」转向「甄别赢家」——市场奖励变现能力，惩罚无限capex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5" name="Rectangle 4"/>
          <p:cNvSpPr/>
          <p:nvPr/>
        </p:nvSpPr>
        <p:spPr>
          <a:xfrm>
            <a:off x="548640" y="1554480"/>
            <a:ext cx="1508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3258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4A5A6B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325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760"/>
              </a:lnSpc>
              <a:spcAft>
                <a:spcPts val="0"/>
              </a:spcAft>
              <a:defRPr sz="2400" b="1">
                <a:solidFill>
                  <a:srgbClr val="2EAD6F"/>
                </a:solidFill>
                <a:latin typeface="Georgia"/>
              </a:defRPr>
            </a:pPr>
            <a:r>
              <a:t>+9.96%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Alphabet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4A5A6B"/>
                </a:solidFill>
                <a:latin typeface="Calibri"/>
              </a:defRPr>
            </a:pPr>
            <a:r>
              <a:t>AI变现赢家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0" name="Rectangle 9"/>
          <p:cNvSpPr/>
          <p:nvPr/>
        </p:nvSpPr>
        <p:spPr>
          <a:xfrm>
            <a:off x="2176272" y="1554480"/>
            <a:ext cx="1508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1645920"/>
            <a:ext cx="13258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4A5A6B"/>
                </a:solidFill>
                <a:latin typeface="Calibri"/>
              </a:defRPr>
            </a:pPr>
            <a:r>
              <a:t>Apple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1965960"/>
            <a:ext cx="1325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760"/>
              </a:lnSpc>
              <a:spcAft>
                <a:spcPts val="0"/>
              </a:spcAft>
              <a:defRPr sz="2400" b="1">
                <a:solidFill>
                  <a:srgbClr val="2EAD6F"/>
                </a:solidFill>
                <a:latin typeface="Georgia"/>
              </a:defRPr>
            </a:pPr>
            <a:r>
              <a:t>+5.00%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46888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Apple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274320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4A5A6B"/>
                </a:solidFill>
                <a:latin typeface="Calibri"/>
              </a:defRPr>
            </a:pPr>
            <a:r>
              <a:t>iPhone周期强劲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5" name="Rectangle 14"/>
          <p:cNvSpPr/>
          <p:nvPr/>
        </p:nvSpPr>
        <p:spPr>
          <a:xfrm>
            <a:off x="3803904" y="1554480"/>
            <a:ext cx="1508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1645920"/>
            <a:ext cx="13258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4A5A6B"/>
                </a:solidFill>
                <a:latin typeface="Calibri"/>
              </a:defRPr>
            </a:pPr>
            <a:r>
              <a:t>Amazon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1965960"/>
            <a:ext cx="1325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760"/>
              </a:lnSpc>
              <a:spcAft>
                <a:spcPts val="0"/>
              </a:spcAft>
              <a:defRPr sz="2400" b="1">
                <a:solidFill>
                  <a:srgbClr val="1A1A2E"/>
                </a:solidFill>
                <a:latin typeface="Georgia"/>
              </a:defRPr>
            </a:pPr>
            <a:r>
              <a:t>+0.77%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246888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Amazon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274320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4A5A6B"/>
                </a:solidFill>
                <a:latin typeface="Calibri"/>
              </a:defRPr>
            </a:pPr>
            <a:r>
              <a:t>AWS强但capex担忧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20" name="Rectangle 19"/>
          <p:cNvSpPr/>
          <p:nvPr/>
        </p:nvSpPr>
        <p:spPr>
          <a:xfrm>
            <a:off x="5431536" y="1554480"/>
            <a:ext cx="1508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2975" y="1645920"/>
            <a:ext cx="13258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4A5A6B"/>
                </a:solidFill>
                <a:latin typeface="Calibri"/>
              </a:defRPr>
            </a:pPr>
            <a:r>
              <a:t>MSFT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2975" y="1965960"/>
            <a:ext cx="1325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760"/>
              </a:lnSpc>
              <a:spcAft>
                <a:spcPts val="0"/>
              </a:spcAft>
              <a:defRPr sz="2400" b="1">
                <a:solidFill>
                  <a:srgbClr val="E84D4D"/>
                </a:solidFill>
                <a:latin typeface="Georgia"/>
              </a:defRPr>
            </a:pPr>
            <a:r>
              <a:t>−3.93%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5" y="246888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Microsoft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5" y="274320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4A5A6B"/>
                </a:solidFill>
                <a:latin typeface="Calibri"/>
              </a:defRPr>
            </a:pPr>
            <a:r>
              <a:t>AI支出焦虑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25" name="Rectangle 24"/>
          <p:cNvSpPr/>
          <p:nvPr/>
        </p:nvSpPr>
        <p:spPr>
          <a:xfrm>
            <a:off x="7059168" y="1554480"/>
            <a:ext cx="1508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0607" y="1645920"/>
            <a:ext cx="13258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4A5A6B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7" y="1965960"/>
            <a:ext cx="1325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760"/>
              </a:lnSpc>
              <a:spcAft>
                <a:spcPts val="0"/>
              </a:spcAft>
              <a:defRPr sz="2400" b="1">
                <a:solidFill>
                  <a:srgbClr val="E84D4D"/>
                </a:solidFill>
                <a:latin typeface="Georgia"/>
              </a:defRPr>
            </a:pPr>
            <a:r>
              <a:t>−8.55%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7" y="246888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7" y="274320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4A5A6B"/>
                </a:solidFill>
                <a:latin typeface="Calibri"/>
              </a:defRPr>
            </a:pPr>
            <a:r>
              <a:t>capex ROI重置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30" name="Rectangle 29"/>
          <p:cNvSpPr/>
          <p:nvPr/>
        </p:nvSpPr>
        <p:spPr>
          <a:xfrm>
            <a:off x="8686800" y="1554480"/>
            <a:ext cx="1508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1645920"/>
            <a:ext cx="13258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4A5A6B"/>
                </a:solidFill>
                <a:latin typeface="Calibri"/>
              </a:defRPr>
            </a:pPr>
            <a:r>
              <a:t>Tesla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965960"/>
            <a:ext cx="1325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760"/>
              </a:lnSpc>
              <a:spcAft>
                <a:spcPts val="0"/>
              </a:spcAft>
              <a:defRPr sz="2400" b="1">
                <a:solidFill>
                  <a:srgbClr val="E84D4D"/>
                </a:solidFill>
                <a:latin typeface="Georgia"/>
              </a:defRPr>
            </a:pPr>
            <a:r>
              <a:t>−3.56%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46888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Tesla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274320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4A5A6B"/>
                </a:solidFill>
                <a:latin typeface="Calibri"/>
              </a:defRPr>
            </a:pPr>
            <a:r>
              <a:t>叙事最不确定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35" name="Rectangle 34"/>
          <p:cNvSpPr/>
          <p:nvPr/>
        </p:nvSpPr>
        <p:spPr>
          <a:xfrm>
            <a:off x="10314432" y="1554480"/>
            <a:ext cx="15087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05872" y="1645920"/>
            <a:ext cx="13258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4A5A6B"/>
                </a:solidFill>
                <a:latin typeface="Calibri"/>
              </a:defRPr>
            </a:pPr>
            <a:r>
              <a:t>NVIDIA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5872" y="1965960"/>
            <a:ext cx="132588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760"/>
              </a:lnSpc>
              <a:spcAft>
                <a:spcPts val="0"/>
              </a:spcAft>
              <a:defRPr sz="2400" b="1">
                <a:solidFill>
                  <a:srgbClr val="D4A843"/>
                </a:solidFill>
                <a:latin typeface="Georgia"/>
              </a:defRPr>
            </a:pPr>
            <a:r>
              <a:t>5/20公布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246888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1A1A2E"/>
                </a:solidFill>
                <a:latin typeface="Calibri"/>
              </a:defRPr>
            </a:pPr>
            <a:r>
              <a:t>NVIDIA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5872" y="2743200"/>
            <a:ext cx="13258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4A5A6B"/>
                </a:solidFill>
                <a:latin typeface="Calibri"/>
              </a:defRPr>
            </a:pPr>
            <a:r>
              <a:t>AI审判日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297680"/>
            <a:ext cx="5303520" cy="2103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434840"/>
            <a:ext cx="48463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AI数据中心军备竞赛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800600"/>
            <a:ext cx="4846320" cy="6858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830"/>
              </a:lnSpc>
              <a:spcAft>
                <a:spcPts val="0"/>
              </a:spcAft>
              <a:defRPr sz="4200" b="1">
                <a:solidFill>
                  <a:srgbClr val="D4A843"/>
                </a:solidFill>
                <a:latin typeface="Georgia"/>
              </a:defRPr>
            </a:pPr>
            <a:r>
              <a:t>$5270亿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486400"/>
            <a:ext cx="48463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Mag 7 2026财年AI+数据中心总资本支出预估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806440"/>
            <a:ext cx="484632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99A8BB"/>
                </a:solidFill>
                <a:latin typeface="Calibri"/>
              </a:defRPr>
            </a:pPr>
            <a:r>
              <a:t>超过全球30个国家的GDP  |  2025-2030年数据中心容量预计翻倍（+97GW）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45" name="Rectangle 44"/>
          <p:cNvSpPr/>
          <p:nvPr/>
        </p:nvSpPr>
        <p:spPr>
          <a:xfrm>
            <a:off x="6400800" y="4297680"/>
            <a:ext cx="5029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434840"/>
            <a:ext cx="4389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Georgia"/>
              </a:defRPr>
            </a:pPr>
            <a:r>
              <a:t>关键结论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892040"/>
            <a:ext cx="438912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市场从「买AI故事」转向「买AI利润」——分化加剧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193792"/>
            <a:ext cx="438912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Alphabet + Apple 通过变现测试；Meta + MSFT 遭遇capex质疑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495544"/>
            <a:ext cx="438912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Mag 7占S&amp;P 500权重 34.8%（2016年仅12.5%）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797296"/>
            <a:ext cx="438912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NVIDIA 5月20日财报 = AI基础设施需求的终极验证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6099048"/>
            <a:ext cx="4389120" cy="256032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PEG仅0.68 → 即使经历历史性涨幅，估值仍有吸引力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板块深度分析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4A5A6B"/>
                </a:solidFill>
                <a:latin typeface="Calibri"/>
              </a:defRPr>
            </a:pPr>
            <a:r>
              <a:t>三大关键板块呈现极致分化：科技领跑、能源受益、金融承压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56616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200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科技 (AI/半导体)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00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2EAD6F"/>
                </a:solidFill>
                <a:latin typeface="Georgia"/>
              </a:defRPr>
            </a:pPr>
            <a:r>
              <a:t>+40.7% YTD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8" name="Rectangle 7"/>
          <p:cNvSpPr/>
          <p:nvPr/>
        </p:nvSpPr>
        <p:spPr>
          <a:xfrm>
            <a:off x="548640" y="237744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AI基础设施超级周期驱动，SMH ETF +40.7% YTD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39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科技板块5月第一周单周涨 +8.5%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65%科技公司超预期盈利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Mag 7 Q1盈利增长 22.8%（其余S&amp;P 500仅10.1%）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⚠️ 费城半导体指数5/18暴跌 2.5-3.3%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⚠️ 仅~10只股票贡献S&amp;P 500约70%涨幅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554480"/>
            <a:ext cx="356616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00200"/>
            <a:ext cx="3200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能源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20240"/>
            <a:ext cx="3200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D4A843"/>
                </a:solidFill>
                <a:latin typeface="Georgia"/>
              </a:defRPr>
            </a:pPr>
            <a:r>
              <a:t>+32.8% YTD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8" name="Rectangle 17"/>
          <p:cNvSpPr/>
          <p:nvPr/>
        </p:nvSpPr>
        <p:spPr>
          <a:xfrm>
            <a:off x="4389120" y="237744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560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受益于伊朗冲突+霍尔木兹海峡封锁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63239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全球库存低于历史均值，OPEC+维持减产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6616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IEA预测全年178万桶/日供应缺口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6908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Chevron(CVX) Q1盈利超预期 53.3%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7200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⚠️ 5月首周回调 -5.3%，油价波动剧烈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⚠️ 停火谈判进展可令油价骤跌 → 板块急转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554480"/>
            <a:ext cx="356616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00200"/>
            <a:ext cx="3200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金融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920240"/>
            <a:ext cx="3200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E84D4D"/>
                </a:solidFill>
                <a:latin typeface="Georgia"/>
              </a:defRPr>
            </a:pPr>
            <a:r>
              <a:t>−1.3% (月初)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28" name="Rectangle 27"/>
          <p:cNvSpPr/>
          <p:nvPr/>
        </p:nvSpPr>
        <p:spPr>
          <a:xfrm>
            <a:off x="8229600" y="237744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560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FOMC政策不确定性压制板块估值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063239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银行 −3.1%，保险 −1.6%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56616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4月FOMC 8-4票（最多反对票）动摇信心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6908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加息预期升温 → 信贷成本上升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57200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✅ DBS仍超配：收入韧性+健康资产负债表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074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⚠️ 联储主席交接期 → 政策方向不明朗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债券市场：加息信号的报警器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4A5A6B"/>
                </a:solidFill>
                <a:latin typeface="Calibri"/>
              </a:defRPr>
            </a:pPr>
            <a:r>
              <a:t>美债收益率全面飙升——「债券卫士」正在用脚投票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5" name="Rectangle 4"/>
          <p:cNvSpPr/>
          <p:nvPr/>
        </p:nvSpPr>
        <p:spPr>
          <a:xfrm>
            <a:off x="731520" y="155448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9456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E84D4D"/>
                </a:solidFill>
                <a:latin typeface="Georgia"/>
              </a:defRPr>
            </a:pPr>
            <a:r>
              <a:t>4.55%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945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10年期美债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945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一年新高，周涨24bp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9" name="Rectangle 8"/>
          <p:cNvSpPr/>
          <p:nvPr/>
        </p:nvSpPr>
        <p:spPr>
          <a:xfrm>
            <a:off x="3566160" y="155448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691640"/>
            <a:ext cx="219456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E84D4D"/>
                </a:solidFill>
                <a:latin typeface="Georgia"/>
              </a:defRPr>
            </a:pPr>
            <a:r>
              <a:t>5%+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31720"/>
            <a:ext cx="21945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30年期美债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651760"/>
            <a:ext cx="21945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二十年高位附近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3" name="Rectangle 12"/>
          <p:cNvSpPr/>
          <p:nvPr/>
        </p:nvSpPr>
        <p:spPr>
          <a:xfrm>
            <a:off x="6400800" y="155448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91640"/>
            <a:ext cx="219456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D4A843"/>
                </a:solidFill>
                <a:latin typeface="Georgia"/>
              </a:defRPr>
            </a:pPr>
            <a:r>
              <a:t>3.88%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21945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2年期美债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21945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已高于联邦基金利率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7" name="Rectangle 16"/>
          <p:cNvSpPr/>
          <p:nvPr/>
        </p:nvSpPr>
        <p:spPr>
          <a:xfrm>
            <a:off x="9235440" y="155448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691640"/>
            <a:ext cx="219456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E84D4D"/>
                </a:solidFill>
                <a:latin typeface="Georgia"/>
              </a:defRPr>
            </a:pPr>
            <a:r>
              <a:t>5%以上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21945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"恐慌按钮"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51760"/>
            <a:ext cx="219456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市场共识关键心理关口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21" name="Rectangle 20"/>
          <p:cNvSpPr/>
          <p:nvPr/>
        </p:nvSpPr>
        <p:spPr>
          <a:xfrm>
            <a:off x="731520" y="3566160"/>
            <a:ext cx="53035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03320"/>
            <a:ext cx="48463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Georgia"/>
              </a:defRPr>
            </a:pPr>
            <a:r>
              <a:t>熊陡 (Bear Steepening) 的含义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06240"/>
            <a:ext cx="4846320" cy="29260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长端收益率上升速度快于短端 → 曲线陡峭化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53712"/>
            <a:ext cx="4846320" cy="29260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核心驱动：通胀预期升温 + 财政赤字担忧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01183"/>
            <a:ext cx="4846320" cy="29260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经典信号：市场预判联储将被迫加息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48656"/>
            <a:ext cx="4846320" cy="29260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结果：远期现金流折现率上升 → 高估值成长股承压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96127"/>
            <a:ext cx="4846320" cy="29260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5月15日：10年期美债单日飙升 73bp（罕见极端波动）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943600"/>
            <a:ext cx="4846320" cy="29260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日本30年期国债同步突破 4%（1999年以来首次）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566160"/>
            <a:ext cx="5029200" cy="2834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703320"/>
            <a:ext cx="43891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对股市的传导机制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0624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843"/>
                </a:solidFill>
                <a:latin typeface="Calibri"/>
              </a:defRPr>
            </a:pPr>
            <a:r>
              <a:t>长久期科技股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06240"/>
            <a:ext cx="283464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折现率↑ → 远期现金流估值↓ → 股价承压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66344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843"/>
                </a:solidFill>
                <a:latin typeface="Calibri"/>
              </a:defRPr>
            </a:pPr>
            <a:r>
              <a:t>REITs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663440"/>
            <a:ext cx="283464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Cap rate扩张 + 浮息债务成本↑ → 双重打击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12064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843"/>
                </a:solidFill>
                <a:latin typeface="Calibri"/>
              </a:defRPr>
            </a:pPr>
            <a:r>
              <a:t>小盘股(Russell 2000)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120640"/>
            <a:ext cx="283464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融资成本敏感度高，日内波动极端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57784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843"/>
                </a:solidFill>
                <a:latin typeface="Calibri"/>
              </a:defRPr>
            </a:pPr>
            <a:r>
              <a:t>美元指数 +1.5%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577840"/>
            <a:ext cx="283464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强美元 → 跨国公司海外收入汇兑损失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603504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D4A843"/>
                </a:solidFill>
                <a:latin typeface="Calibri"/>
              </a:defRPr>
            </a:pPr>
            <a:r>
              <a:t>避险资产受益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035040"/>
            <a:ext cx="283464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CADCFC"/>
                </a:solidFill>
                <a:latin typeface="Calibri"/>
              </a:defRPr>
            </a:pPr>
            <a:r>
              <a:t>防御性板块（必需消费 +9%）获资金流入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6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t>焦点：NVIDIA Q1 FY2027 财报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CADCFC"/>
                </a:solidFill>
                <a:latin typeface="Calibri"/>
              </a:defRPr>
            </a:pPr>
            <a:r>
              <a:t>5月20日公布  |  美股AI贸易的「审判日」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286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D4A843"/>
                </a:solidFill>
                <a:latin typeface="Georgia"/>
              </a:defRPr>
            </a:pPr>
            <a:r>
              <a:t>$78-79B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2860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预计营收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286000" cy="2286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99A8BB"/>
                </a:solidFill>
                <a:latin typeface="Calibri"/>
              </a:defRPr>
            </a:pPr>
            <a:r>
              <a:t>上季$68.13B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28800"/>
            <a:ext cx="2286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D4A843"/>
                </a:solidFill>
                <a:latin typeface="Georgia"/>
              </a:defRPr>
            </a:pPr>
            <a:r>
              <a:t>$1.74-1.78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68880"/>
            <a:ext cx="22860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预计调整后EPS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743200"/>
            <a:ext cx="2286000" cy="2286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99A8BB"/>
                </a:solidFill>
                <a:latin typeface="Calibri"/>
              </a:defRPr>
            </a:pPr>
            <a:r>
              <a:t>毛利率~74.9%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2286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D4A843"/>
                </a:solidFill>
                <a:latin typeface="Georgia"/>
              </a:defRPr>
            </a:pPr>
            <a:r>
              <a:t>$320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22860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BofA目标价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2286000" cy="2286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99A8BB"/>
                </a:solidFill>
                <a:latin typeface="Calibri"/>
              </a:defRPr>
            </a:pPr>
            <a:r>
              <a:t>距当前~$226有41.6%空间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828800"/>
            <a:ext cx="2286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D4A843"/>
                </a:solidFill>
                <a:latin typeface="Georgia"/>
              </a:defRPr>
            </a:pPr>
            <a:r>
              <a:t>$527B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468880"/>
            <a:ext cx="22860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Mag 7年度AI capex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743200"/>
            <a:ext cx="2286000" cy="2286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99A8BB"/>
                </a:solidFill>
                <a:latin typeface="Calibri"/>
              </a:defRPr>
            </a:pPr>
            <a:r>
              <a:t>历史级别投资周期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4572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华尔街一致看多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BofA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384048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843"/>
                </a:solidFill>
                <a:latin typeface="Calibri"/>
              </a:defRPr>
            </a:pPr>
            <a:r>
              <a:t>$320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84048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2EAD6F"/>
                </a:solidFill>
                <a:latin typeface="Calibri"/>
              </a:defRPr>
            </a:pPr>
            <a:r>
              <a:t>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84048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KeyBanc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8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843"/>
                </a:solidFill>
                <a:latin typeface="Calibri"/>
              </a:defRPr>
            </a:pPr>
            <a:r>
              <a:t>$300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84048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2EAD6F"/>
                </a:solidFill>
                <a:latin typeface="Calibri"/>
              </a:defRPr>
            </a:pPr>
            <a:r>
              <a:t>Overweight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84048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Morgan Stanley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84048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843"/>
                </a:solidFill>
                <a:latin typeface="Calibri"/>
              </a:defRPr>
            </a:pPr>
            <a:r>
              <a:t>$285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384048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2EAD6F"/>
                </a:solidFill>
                <a:latin typeface="Calibri"/>
              </a:defRPr>
            </a:pPr>
            <a:r>
              <a:t>Overweight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4340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TD Cowen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39" y="434340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843"/>
                </a:solidFill>
                <a:latin typeface="Calibri"/>
              </a:defRPr>
            </a:pPr>
            <a:r>
              <a:t>$275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34340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2EAD6F"/>
                </a:solidFill>
                <a:latin typeface="Calibri"/>
              </a:defRPr>
            </a:pPr>
            <a:r>
              <a:t>Buy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34340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UBS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4340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843"/>
                </a:solidFill>
                <a:latin typeface="Calibri"/>
              </a:defRPr>
            </a:pPr>
            <a:r>
              <a:t>$275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4340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2EAD6F"/>
                </a:solidFill>
                <a:latin typeface="Calibri"/>
              </a:defRPr>
            </a:pPr>
            <a:r>
              <a:t>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343400"/>
            <a:ext cx="16459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37分析师共识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434340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843"/>
                </a:solidFill>
                <a:latin typeface="Calibri"/>
              </a:defRPr>
            </a:pPr>
            <a:r>
              <a:t>$274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4343400"/>
            <a:ext cx="82296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2EAD6F"/>
                </a:solidFill>
                <a:latin typeface="Calibri"/>
              </a:defRPr>
            </a:pPr>
            <a:r>
              <a:t>Strong Buy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4846320"/>
            <a:ext cx="10058400" cy="1270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Georgia"/>
              </a:rPr>
              <a:t>「如果我们交了一个糟糕的季度，就是AI泡沫的证据。如果交了一个伟大的季度，我们就在助长AI泡沫。」</a:t>
            </a:r>
          </a:p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>
                <a:solidFill>
                  <a:srgbClr val="4A5A6B"/>
                </a:solidFill>
                <a:latin typeface="Calibri"/>
              </a:rPr>
              <a:t>— Jensen Huang, NVIDIA CEO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99A8BB"/>
                </a:solidFill>
                <a:latin typeface="Calibri"/>
              </a:defRPr>
            </a:pPr>
            <a:r>
              <a:t>当前PEG仅 0.68（低于1.0公允价值阈值）→ 市场可能仍低估其增长潜力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市场集中度：隐形风险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4A5A6B"/>
                </a:solidFill>
                <a:latin typeface="Calibri"/>
              </a:defRPr>
            </a:pPr>
            <a:r>
              <a:t>当市值加权指数和等权重指数背离过大，就是系统性风险信号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5" name="Rectangle 4"/>
          <p:cNvSpPr/>
          <p:nvPr/>
        </p:nvSpPr>
        <p:spPr>
          <a:xfrm>
            <a:off x="731520" y="155448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8463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4A5A6B"/>
                </a:solidFill>
                <a:latin typeface="Calibri"/>
              </a:defRPr>
            </a:pPr>
            <a:r>
              <a:t>市值加权 S&amp;P 500 自3/30反弹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84632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6900"/>
              </a:lnSpc>
              <a:spcAft>
                <a:spcPts val="0"/>
              </a:spcAft>
              <a:defRPr sz="6000" b="1">
                <a:solidFill>
                  <a:srgbClr val="2EAD6F"/>
                </a:solidFill>
                <a:latin typeface="Georgia"/>
              </a:defRPr>
            </a:pPr>
            <a:r>
              <a:t>+18.4%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48463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仅~10只股票贡献约70%涨幅  ·  表面繁荣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9" name="Rectangle 8"/>
          <p:cNvSpPr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38912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4A5A6B"/>
                </a:solidFill>
                <a:latin typeface="Calibri"/>
              </a:defRPr>
            </a:pPr>
            <a:r>
              <a:t>等权重 S&amp;P 500 自3/30反弹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389120" cy="9144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6900"/>
              </a:lnSpc>
              <a:spcAft>
                <a:spcPts val="0"/>
              </a:spcAft>
              <a:defRPr sz="6000" b="1">
                <a:solidFill>
                  <a:srgbClr val="E84D4D"/>
                </a:solidFill>
                <a:latin typeface="Georgia"/>
              </a:defRPr>
            </a:pPr>
            <a:r>
              <a:t>+8.3%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108960"/>
            <a:ext cx="438912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广泛市场参与度极低  ·  真实的疲弱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3" name="Rectangle 12"/>
          <p:cNvSpPr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33272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1E2761"/>
                </a:solidFill>
                <a:latin typeface="Georgia"/>
              </a:defRPr>
            </a:pPr>
            <a:r>
              <a:t>历史警示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2743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Mag 7 占 S&amp;P 500 权重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709160"/>
            <a:ext cx="7315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34.8%（2016年仅12.5%）→ 集中度创历史记录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2743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AI capex循环的脆弱性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029200"/>
            <a:ext cx="7315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若NVIDIA/Hyperscalers减速 → 连锁抛售 → 指数级回撤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2743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被动投资放大风险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349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大量资金通过ETF被动配置 → 少数大市值股支配整体指数方向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69280"/>
            <a:ext cx="2743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2000年互联网泡沫教训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669280"/>
            <a:ext cx="7315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极端集中度 + 高估值 + 宏观收紧 = 潜在系统性回调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989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1E2761"/>
                </a:solidFill>
                <a:latin typeface="Calibri"/>
              </a:defRPr>
            </a:pPr>
            <a:r>
              <a:t>等权重 vs 市值加权背离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989320"/>
            <a:ext cx="7315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18.4% vs 8.3% 的差距 → 1987年以来最大分化之一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关键风险矩阵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8288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风险因素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417320"/>
            <a:ext cx="18288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417320"/>
            <a:ext cx="18288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触发条件与影响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8" name="Rectangle 7"/>
          <p:cNvSpPr/>
          <p:nvPr/>
        </p:nvSpPr>
        <p:spPr>
          <a:xfrm>
            <a:off x="731520" y="1874519"/>
            <a:ext cx="10698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2286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地缘政治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84248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E84D4D"/>
                </a:solidFill>
                <a:latin typeface="Georgia"/>
              </a:defRPr>
            </a:pPr>
            <a: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84248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伊朗冲突升级 / 停火谈判破裂 / 霍尔木兹持续封锁 → 油价进一步飙升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2" name="Rectangle 11"/>
          <p:cNvSpPr/>
          <p:nvPr/>
        </p:nvSpPr>
        <p:spPr>
          <a:xfrm>
            <a:off x="731520" y="2532887"/>
            <a:ext cx="10698480" cy="5669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42615"/>
            <a:ext cx="2286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通胀失控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42615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E84D4D"/>
                </a:solidFill>
                <a:latin typeface="Georgia"/>
              </a:defRPr>
            </a:pPr>
            <a: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42615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5月CPI若破4 → 美联储加息概率跃升至50%+ → 全面风险资产重定价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6" name="Rectangle 15"/>
          <p:cNvSpPr/>
          <p:nvPr/>
        </p:nvSpPr>
        <p:spPr>
          <a:xfrm>
            <a:off x="731520" y="3191256"/>
            <a:ext cx="10698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00984"/>
            <a:ext cx="2286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AI capex逆转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00984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E84D4D"/>
                </a:solidFill>
                <a:latin typeface="Georgia"/>
              </a:defRPr>
            </a:pPr>
            <a:r>
              <a:t>中高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300984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NVIDIA/Hyperscalers若暗示资本支出见顶 → 半导体板块暴跌 → 指数承压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20" name="Rectangle 19"/>
          <p:cNvSpPr/>
          <p:nvPr/>
        </p:nvSpPr>
        <p:spPr>
          <a:xfrm>
            <a:off x="731520" y="3849624"/>
            <a:ext cx="10698480" cy="5669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59352"/>
            <a:ext cx="2286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联储政策失误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59352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D4A843"/>
                </a:solidFill>
                <a:latin typeface="Georgia"/>
              </a:defRPr>
            </a:pPr>
            <a:r>
              <a:t>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959352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加息过迟 → 通胀根深蒂固；加息过早过猛 → 经济硬着陆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24" name="Rectangle 23"/>
          <p:cNvSpPr/>
          <p:nvPr/>
        </p:nvSpPr>
        <p:spPr>
          <a:xfrm>
            <a:off x="731520" y="4507992"/>
            <a:ext cx="10698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2286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市场集中度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617720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D4A843"/>
                </a:solidFill>
                <a:latin typeface="Georgia"/>
              </a:defRPr>
            </a:pPr>
            <a: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617720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Mag 7权重历史最高 → 任何一只暴雷都将通过ETF波及全市场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28" name="Rectangle 27"/>
          <p:cNvSpPr/>
          <p:nvPr/>
        </p:nvSpPr>
        <p:spPr>
          <a:xfrm>
            <a:off x="731520" y="5166359"/>
            <a:ext cx="10698480" cy="56692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276088"/>
            <a:ext cx="2286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美元走强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276088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D4A843"/>
                </a:solidFill>
                <a:latin typeface="Georgia"/>
              </a:defRPr>
            </a:pPr>
            <a:r>
              <a:t>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276088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美元指数+1.5% → 跨国公司盈利受损 → S&amp;P 500海外收入约40%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32" name="Rectangle 31"/>
          <p:cNvSpPr/>
          <p:nvPr/>
        </p:nvSpPr>
        <p:spPr>
          <a:xfrm>
            <a:off x="731520" y="5824728"/>
            <a:ext cx="10698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934456"/>
            <a:ext cx="2286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1A1A2E"/>
                </a:solidFill>
                <a:latin typeface="Calibri"/>
              </a:defRPr>
            </a:pPr>
            <a:r>
              <a:t>日本国债传导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934456"/>
            <a:ext cx="13716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D4A843"/>
                </a:solidFill>
                <a:latin typeface="Georgia"/>
              </a:defRPr>
            </a:pPr>
            <a:r>
              <a:t>新增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934456"/>
            <a:ext cx="54864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日本30年国债破4%（1999来首次）→ 全球利率上行压力 → 资金流向逆转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未来展望：三种情景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4" name="Rectangle 3"/>
          <p:cNvSpPr/>
          <p:nvPr/>
        </p:nvSpPr>
        <p:spPr>
          <a:xfrm>
            <a:off x="731520" y="1371600"/>
            <a:ext cx="106984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508760"/>
          </a:xfrm>
          <a:prstGeom prst="rect">
            <a:avLst/>
          </a:prstGeom>
          <a:solidFill>
            <a:srgbClr val="2EA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44752"/>
            <a:ext cx="4572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2EAD6F"/>
                </a:solidFill>
                <a:latin typeface="Georgia"/>
              </a:defRPr>
            </a:pPr>
            <a:r>
              <a:t>🟢 乐观情景 (35%)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5029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Georgia"/>
              </a:defRPr>
            </a:pPr>
            <a:r>
              <a:t>S&amp;P 500: 7,750–8,000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场景：伊朗停火 + AI盈利兑现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10058400" cy="5943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布伦特回落至$90 → CPI降温至3.5%以下 → 联储按兵不动 → NVIDIA财报超预期 → 科技板块引领新一轮反弹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0" name="Rectangle 9"/>
          <p:cNvSpPr/>
          <p:nvPr/>
        </p:nvSpPr>
        <p:spPr>
          <a:xfrm>
            <a:off x="731520" y="3090672"/>
            <a:ext cx="106984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90672"/>
            <a:ext cx="73152" cy="15087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63824"/>
            <a:ext cx="4572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D4A843"/>
                </a:solidFill>
                <a:latin typeface="Georgia"/>
              </a:defRPr>
            </a:pPr>
            <a:r>
              <a:t>🟡 基本情景 (45%)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82112"/>
            <a:ext cx="5029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Georgia"/>
              </a:defRPr>
            </a:pPr>
            <a:r>
              <a:t>S&amp;P 500: 7,100–7,500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47872"/>
            <a:ext cx="100584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场景：僵局持续 + 板块轮动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67911"/>
            <a:ext cx="10058400" cy="5943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油价维持$100-110 → 通胀高位徘徊 → 联储观望至年底 → 资金从高估值成长股向防御性板块轮动 → 指数横盘震荡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6" name="Rectangle 15"/>
          <p:cNvSpPr/>
          <p:nvPr/>
        </p:nvSpPr>
        <p:spPr>
          <a:xfrm>
            <a:off x="731520" y="4809744"/>
            <a:ext cx="106984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809744"/>
            <a:ext cx="73152" cy="150876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82896"/>
            <a:ext cx="4572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E84D4D"/>
                </a:solidFill>
                <a:latin typeface="Georgia"/>
              </a:defRPr>
            </a:pPr>
            <a:r>
              <a:t>🔴 悲观情景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901183"/>
            <a:ext cx="50292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Georgia"/>
              </a:defRPr>
            </a:pPr>
            <a:r>
              <a:t>S&amp;P 500: 6,000–6,500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66944"/>
            <a:ext cx="1005840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1A1A2E"/>
                </a:solidFill>
                <a:latin typeface="Calibri"/>
              </a:defRPr>
            </a:pPr>
            <a:r>
              <a:t>场景：全面冲突升级 + 滞胀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86983"/>
            <a:ext cx="10058400" cy="5943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伊朗冲突扩大 → 布伦特突破$140 → CPI破5% → 联储被迫加息 → AI capex收缩 → 科技股泡沫破裂 → 美债遭抛售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4370"/>
              </a:lnSpc>
              <a:spcAft>
                <a:spcPts val="0"/>
              </a:spcAft>
              <a:defRPr sz="3800" b="1">
                <a:solidFill>
                  <a:srgbClr val="1E2761"/>
                </a:solidFill>
                <a:latin typeface="Georgia"/>
              </a:defRPr>
            </a:pPr>
            <a:r>
              <a:t>投资策略建议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4A5A6B"/>
                </a:solidFill>
                <a:latin typeface="Calibri"/>
              </a:defRPr>
            </a:pPr>
            <a:r>
              <a:t>当前环境：高通胀 + 地缘风险 + 加息预期 + AI分化  →  防御为主、精选进攻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5" name="Rectangle 4"/>
          <p:cNvSpPr/>
          <p:nvPr/>
        </p:nvSpPr>
        <p:spPr>
          <a:xfrm>
            <a:off x="731520" y="1554480"/>
            <a:ext cx="106984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20116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超配能源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627632"/>
            <a:ext cx="10972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2EAD6F"/>
                </a:solidFill>
                <a:latin typeface="Calibri"/>
              </a:defRPr>
            </a:pPr>
            <a:r>
              <a:t>积极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27632"/>
            <a:ext cx="6766560" cy="5029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伊朗冲突持续 → 油价维持高位 → XOM、CVX等受益于供应紧缺。但需设定止损，一旦停火立即减仓。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9" name="Rectangle 8"/>
          <p:cNvSpPr/>
          <p:nvPr/>
        </p:nvSpPr>
        <p:spPr>
          <a:xfrm>
            <a:off x="731520" y="2359152"/>
            <a:ext cx="106984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32304"/>
            <a:ext cx="20116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精选AI龙头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32304"/>
            <a:ext cx="10972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2EAD6F"/>
                </a:solidFill>
                <a:latin typeface="Calibri"/>
              </a:defRPr>
            </a:pPr>
            <a:r>
              <a:t>中性偏多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32304"/>
            <a:ext cx="6766560" cy="5029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NVIDIA、Alphabet等有真实变现能力的标的，避开纯capex故事。NVIDIA PEG 0.68仍有估值支撑。等5/20财报后再加仓。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3" name="Rectangle 12"/>
          <p:cNvSpPr/>
          <p:nvPr/>
        </p:nvSpPr>
        <p:spPr>
          <a:xfrm>
            <a:off x="731520" y="3163824"/>
            <a:ext cx="106984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20116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增加防御配置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36976"/>
            <a:ext cx="10972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843"/>
                </a:solidFill>
                <a:latin typeface="Calibri"/>
              </a:defRPr>
            </a:pPr>
            <a:r>
              <a:t>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36976"/>
            <a:ext cx="6766560" cy="5029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必需消费(XLP +9% YTD)、医疗保健——在高通胀+加息环境中具备定价权和稳定现金流。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17" name="Rectangle 16"/>
          <p:cNvSpPr/>
          <p:nvPr/>
        </p:nvSpPr>
        <p:spPr>
          <a:xfrm>
            <a:off x="731520" y="3968496"/>
            <a:ext cx="106984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20116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减仓长久期资产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041648"/>
            <a:ext cx="10972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E84D4D"/>
                </a:solidFill>
                <a:latin typeface="Calibri"/>
              </a:defRPr>
            </a:pPr>
            <a:r>
              <a:t>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041648"/>
            <a:ext cx="6766560" cy="5029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REITs、未盈利科技股、小盘股——对利率最敏感，在加息预期升温时首当其冲。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21" name="Rectangle 20"/>
          <p:cNvSpPr/>
          <p:nvPr/>
        </p:nvSpPr>
        <p:spPr>
          <a:xfrm>
            <a:off x="731520" y="4773168"/>
            <a:ext cx="106984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20116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对冲尾部风险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846320"/>
            <a:ext cx="10972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843"/>
                </a:solidFill>
                <a:latin typeface="Calibri"/>
              </a:defRPr>
            </a:pPr>
            <a:r>
              <a:t>推荐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46320"/>
            <a:ext cx="6766560" cy="5029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配置黄金($4,580/oz)、VIX看涨期权、或做多波动率策略。地缘风险+联储不确定性 = 尾部事件概率升高。</a:t>
            </a:r>
          </a:p>
        </p:txBody>
      </p:sp>
      <p:sp>
        <a:spPr>
          <a:effectLst>
            <a:outerShdw blurRad="50800" dist="25400" dir="1350000" algn="bl">
              <a:srgbClr val="000000">
                <a:alpha val="20000"/>
              </a:srgbClr>
            </a:outerShdw>
          </a:effectLst>
        </a:spPr>
        <p:nvSpPr>
          <p:cNvPr id="25" name="Rectangle 24"/>
          <p:cNvSpPr/>
          <p:nvPr/>
        </p:nvSpPr>
        <p:spPr>
          <a:xfrm>
            <a:off x="731520" y="5577840"/>
            <a:ext cx="106984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50992"/>
            <a:ext cx="20116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1E2761"/>
                </a:solidFill>
                <a:latin typeface="Calibri"/>
              </a:defRPr>
            </a:pPr>
            <a:r>
              <a:t>关注日本溢出效应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650992"/>
            <a:ext cx="1097280" cy="2743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D4A843"/>
                </a:solidFill>
                <a:latin typeface="Calibri"/>
              </a:defRPr>
            </a:pPr>
            <a:r>
              <a:t>监控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650992"/>
            <a:ext cx="6766560" cy="5029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4A5A6B"/>
                </a:solidFill>
                <a:latin typeface="Calibri"/>
              </a:defRPr>
            </a:pPr>
            <a:r>
              <a:t>日本30年期国债破4%——若继续上行，可能引发全球债券市场连锁反应。密切跟踪JGB收益率。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91440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5059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t>核心结论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08760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920240"/>
            <a:ext cx="411480" cy="41148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74520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市场处于十字路口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67712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连续两日下跌不是偶然——通胀、利率、地缘三大逆风正在汇聚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724912"/>
            <a:ext cx="411480" cy="41148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79192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分化取代普涨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72384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AI内部、板块之间、市值加权vs等权重——2026年选股能力比方向判断更重要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529584"/>
            <a:ext cx="411480" cy="41148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483864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NVIDIA是关键催化剂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877056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5月20日财报将决定AI贸易是延续还是逆转——做好双向准备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4334256"/>
            <a:ext cx="411480" cy="41148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88536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不要忽视债券信号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8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10年期收益率逼近5% + 曲线熊陡 → 这是市场在告诉我们：通胀没有结束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5138928"/>
            <a:ext cx="411480" cy="41148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2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93208"/>
            <a:ext cx="91440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保持防御姿态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86400"/>
            <a:ext cx="91440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增加能源和必需消费敞口，减仓对利率敏感的资产，持有现金等待更好的入场时机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806440"/>
            <a:ext cx="10058400" cy="6350"/>
          </a:xfrm>
          <a:prstGeom prst="rect">
            <a:avLst/>
          </a:prstGeom>
          <a:solidFill>
            <a:srgbClr val="3D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CADCFC"/>
                </a:solidFill>
                <a:latin typeface="Calibri"/>
              </a:defRPr>
            </a:pPr>
            <a:r>
              <a:t>Thank You  ·  数据截至2026年5月19日  ·  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